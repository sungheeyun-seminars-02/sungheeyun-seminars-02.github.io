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6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97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is short for "design school". It is not a traditional department: it began as an institute any Stanford student could take classes in, whatever their major. David Kelley founded the design firm IDEO; Hasso Plattner co-founded SAP and funded the institute, which is why it carries his name. Sarah Stein Greenberg has been Executive Director since 2014.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five-step model is what most people mean by "design thinking". The steps are not strictly linear: teams loop back from testing to redefining the problem. The emphasis is on starting from real users rather than from a technology, and on building rough prototypes early instead of planning at length.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Embrace is a low-cost infant warmer for premature babies where incubators are unavailable; d.light makes affordable solar lanterns for homes without electricity. Both began as student projects in the Design for Extreme Affordability course. The Potsdam sister school is the HPI School of Design Thinking, also funded by Hasso Plattner.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 what" slide. The d.school stands for four ideas: start from real people rather than from a technology; build rough prototypes early and learn by testing; put different disciplines on one team; and treat creativity as a skill that can be taught, which David Kelley calls creative confidence. The single takeaway: innovation is a method anyone can learn.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6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F1A17"/>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0"/>
            <a:ext cx="10566400" cy="4109720"/>
          </a:xfrm>
          <a:prstGeom prst="rect">
            <a:avLst/>
          </a:prstGeom>
          <a:noFill/>
          <a:ln/>
        </p:spPr>
        <p:txBody>
          <a:bodyPr wrap="square" lIns="0" tIns="0" rIns="0" bIns="0" rtlCol="0" anchor="t"/>
          <a:lstStyle>
            <a:lvl1pPr marL="0" indent="0" algn="l">
              <a:lnSpc>
                <a:spcPct val="140000"/>
              </a:lnSpc>
              <a:buNone/>
              <a:defRPr lang="en-US" sz="1600" dirty="0">
                <a:solidFill>
                  <a:srgbClr val="3D3531"/>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6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F1A17"/>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0"/>
            <a:ext cx="10566400" cy="4109720"/>
          </a:xfrm>
          <a:prstGeom prst="rect">
            <a:avLst/>
          </a:prstGeom>
          <a:noFill/>
          <a:ln/>
        </p:spPr>
        <p:txBody>
          <a:bodyPr wrap="square" lIns="0" tIns="0" rIns="0" bIns="0" rtlCol="0" anchor="t"/>
          <a:lstStyle>
            <a:lvl1pPr marL="0" indent="0" algn="l">
              <a:lnSpc>
                <a:spcPct val="140000"/>
              </a:lnSpc>
              <a:buNone/>
              <a:defRPr lang="en-US" sz="1600" dirty="0">
                <a:solidFill>
                  <a:srgbClr val="3D3531"/>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4291C"/>
                </a:solidFill>
                <a:latin typeface="DM Sans" pitchFamily="34" charset="0"/>
                <a:ea typeface="DM Sans" pitchFamily="34" charset="-122"/>
                <a:cs typeface="DM Sans" pitchFamily="34" charset="-120"/>
              </a:rPr>
              <a:t>STANFORD D.SCHOOL · 1 OF 4</a:t>
            </a:r>
            <a:endParaRPr lang="en-US" sz="1200" dirty="0"/>
          </a:p>
        </p:txBody>
      </p:sp>
      <p:sp>
        <p:nvSpPr>
          <p:cNvPr id="3" name="Text 1"/>
          <p:cNvSpPr>
            <a:spLocks noGrp="1"/>
          </p:cNvSpPr>
          <p:nvPr>
            <p:ph type="title"/>
          </p:nvPr>
        </p:nvSpPr>
        <p:spPr>
          <a:xfrm>
            <a:off x="812800" y="11277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1A17"/>
                </a:solidFill>
                <a:latin typeface="Oswald" pitchFamily="34" charset="0"/>
                <a:ea typeface="Oswald" pitchFamily="34" charset="-122"/>
                <a:cs typeface="Oswald" pitchFamily="34" charset="-120"/>
              </a:rPr>
              <a:t>What the d.school is</a:t>
            </a:r>
            <a:endParaRPr lang="en-US" sz="3600" dirty="0"/>
          </a:p>
        </p:txBody>
      </p:sp>
      <p:sp>
        <p:nvSpPr>
          <p:cNvPr id="4" name="Text 2"/>
          <p:cNvSpPr/>
          <p:nvPr/>
        </p:nvSpPr>
        <p:spPr>
          <a:xfrm>
            <a:off x="812800" y="1732280"/>
            <a:ext cx="6175502" cy="4112857"/>
          </a:xfrm>
          <a:prstGeom prst="rect">
            <a:avLst/>
          </a:prstGeom>
          <a:noFill/>
          <a:ln/>
        </p:spPr>
        <p:txBody>
          <a:bodyPr wrap="square" lIns="0" tIns="0" rIns="0" bIns="0" rtlCol="0" anchor="t">
            <a:spAutoFit/>
          </a:bodyPr>
          <a:lstStyle/>
          <a:p>
            <a:pPr marL="210566" indent="-210566" algn="l">
              <a:lnSpc>
                <a:spcPct val="150000"/>
              </a:lnSpc>
              <a:buSzPct val="100000"/>
              <a:buChar char="•"/>
            </a:pPr>
            <a:r>
              <a:rPr lang="en-US" sz="2000" dirty="0">
                <a:solidFill>
                  <a:srgbClr val="3D3531"/>
                </a:solidFill>
                <a:latin typeface="DM Sans" pitchFamily="34" charset="0"/>
                <a:ea typeface="DM Sans" pitchFamily="34" charset="-122"/>
                <a:cs typeface="DM Sans" pitchFamily="34" charset="-120"/>
              </a:rPr>
              <a:t>Formally the </a:t>
            </a:r>
            <a:r>
              <a:rPr lang="en-US" sz="2000" b="1" dirty="0">
                <a:solidFill>
                  <a:srgbClr val="3D3531"/>
                </a:solidFill>
                <a:latin typeface="DM Sans" pitchFamily="34" charset="0"/>
                <a:ea typeface="DM Sans" pitchFamily="34" charset="-122"/>
                <a:cs typeface="DM Sans" pitchFamily="34" charset="-120"/>
              </a:rPr>
              <a:t>Hasso Plattner Institute of Design</a:t>
            </a:r>
            <a:r>
              <a:rPr lang="en-US" sz="2000" dirty="0">
                <a:solidFill>
                  <a:srgbClr val="3D3531"/>
                </a:solidFill>
                <a:latin typeface="DM Sans" pitchFamily="34" charset="0"/>
                <a:ea typeface="DM Sans" pitchFamily="34" charset="-122"/>
                <a:cs typeface="DM Sans" pitchFamily="34" charset="-120"/>
              </a:rPr>
              <a:t> at Stanford, founded in 2005</a:t>
            </a:r>
            <a:endParaRPr lang="en-US" sz="2000" dirty="0"/>
          </a:p>
          <a:p>
            <a:pPr marL="210566" indent="-210566" algn="l">
              <a:lnSpc>
                <a:spcPct val="150000"/>
              </a:lnSpc>
              <a:buSzPct val="100000"/>
              <a:buChar char="•"/>
            </a:pPr>
            <a:r>
              <a:rPr lang="en-US" sz="2000" dirty="0">
                <a:solidFill>
                  <a:srgbClr val="3D3531"/>
                </a:solidFill>
                <a:latin typeface="DM Sans" pitchFamily="34" charset="0"/>
                <a:ea typeface="DM Sans" pitchFamily="34" charset="-122"/>
                <a:cs typeface="DM Sans" pitchFamily="34" charset="-120"/>
              </a:rPr>
              <a:t>Started by David Kelley of IDEO, with funding from SAP co-founder Hasso Plattner</a:t>
            </a:r>
            <a:endParaRPr lang="en-US" sz="2000" dirty="0"/>
          </a:p>
          <a:p>
            <a:pPr marL="210566" indent="-210566" algn="l">
              <a:lnSpc>
                <a:spcPct val="150000"/>
              </a:lnSpc>
              <a:buSzPct val="100000"/>
              <a:buChar char="•"/>
            </a:pPr>
            <a:r>
              <a:rPr lang="en-US" sz="2000" dirty="0">
                <a:solidFill>
                  <a:srgbClr val="3D3531"/>
                </a:solidFill>
                <a:latin typeface="DM Sans" pitchFamily="34" charset="0"/>
                <a:ea typeface="DM Sans" pitchFamily="34" charset="-122"/>
                <a:cs typeface="DM Sans" pitchFamily="34" charset="-120"/>
              </a:rPr>
              <a:t>A cross-campus hub: students from every Stanford school take project-based, team-taught classes</a:t>
            </a:r>
            <a:endParaRPr lang="en-US" sz="2000" dirty="0"/>
          </a:p>
          <a:p>
            <a:pPr marL="210566" indent="-210566" algn="l">
              <a:lnSpc>
                <a:spcPct val="150000"/>
              </a:lnSpc>
              <a:buSzPct val="100000"/>
              <a:buChar char="•"/>
            </a:pPr>
            <a:r>
              <a:rPr lang="en-US" sz="2000" dirty="0">
                <a:solidFill>
                  <a:srgbClr val="3D3531"/>
                </a:solidFill>
                <a:latin typeface="DM Sans" pitchFamily="34" charset="0"/>
                <a:ea typeface="DM Sans" pitchFamily="34" charset="-122"/>
                <a:cs typeface="DM Sans" pitchFamily="34" charset="-120"/>
              </a:rPr>
              <a:t>Led by Executive Director Sarah Stein Greenberg since 2014</a:t>
            </a:r>
            <a:endParaRPr lang="en-US" sz="2000" dirty="0"/>
          </a:p>
        </p:txBody>
      </p:sp>
      <p:sp>
        <p:nvSpPr>
          <p:cNvPr id="7" name="Text 5"/>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F57"/>
                </a:solidFill>
                <a:latin typeface="DM Sans" pitchFamily="34" charset="0"/>
                <a:ea typeface="DM Sans" pitchFamily="34" charset="-122"/>
                <a:cs typeface="DM Sans" pitchFamily="34" charset="-120"/>
              </a:rPr>
              <a:t>Source: dschool.stanford.edu</a:t>
            </a:r>
            <a:endParaRPr lang="en-US" sz="1200" dirty="0"/>
          </a:p>
        </p:txBody>
      </p:sp>
      <p:pic>
        <p:nvPicPr>
          <p:cNvPr id="9" name="Picture 8">
            <a:extLst>
              <a:ext uri="{FF2B5EF4-FFF2-40B4-BE49-F238E27FC236}">
                <a16:creationId xmlns:a16="http://schemas.microsoft.com/office/drawing/2014/main" id="{D03A0C36-17F7-918A-B1A6-0509EF0B07F0}"/>
              </a:ext>
            </a:extLst>
          </p:cNvPr>
          <p:cNvPicPr>
            <a:picLocks noChangeAspect="1"/>
          </p:cNvPicPr>
          <p:nvPr/>
        </p:nvPicPr>
        <p:blipFill>
          <a:blip r:embed="rId3"/>
          <a:stretch>
            <a:fillRect/>
          </a:stretch>
        </p:blipFill>
        <p:spPr>
          <a:xfrm>
            <a:off x="7340252" y="2312964"/>
            <a:ext cx="4475732" cy="29514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9D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3241A"/>
                </a:solidFill>
                <a:latin typeface="DM Sans" pitchFamily="34" charset="0"/>
                <a:ea typeface="DM Sans" pitchFamily="34" charset="-122"/>
                <a:cs typeface="DM Sans" pitchFamily="34" charset="-120"/>
              </a:rPr>
              <a:t>STANFORD D.SCHOOL · 2 OF 4</a:t>
            </a:r>
            <a:endParaRPr lang="en-US" sz="1200" dirty="0"/>
          </a:p>
        </p:txBody>
      </p:sp>
      <p:sp>
        <p:nvSpPr>
          <p:cNvPr id="3" name="Text 1"/>
          <p:cNvSpPr>
            <a:spLocks noGrp="1"/>
          </p:cNvSpPr>
          <p:nvPr>
            <p:ph type="title"/>
          </p:nvPr>
        </p:nvSpPr>
        <p:spPr>
          <a:xfrm>
            <a:off x="812800" y="11277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1A17"/>
                </a:solidFill>
                <a:latin typeface="Oswald" pitchFamily="34" charset="0"/>
                <a:ea typeface="Oswald" pitchFamily="34" charset="-122"/>
                <a:cs typeface="Oswald" pitchFamily="34" charset="-120"/>
              </a:rPr>
              <a:t>How it teaches design thinking</a:t>
            </a:r>
            <a:endParaRPr lang="en-US" sz="3600" dirty="0"/>
          </a:p>
        </p:txBody>
      </p:sp>
      <p:sp>
        <p:nvSpPr>
          <p:cNvPr id="4" name="Text 2"/>
          <p:cNvSpPr/>
          <p:nvPr/>
        </p:nvSpPr>
        <p:spPr>
          <a:xfrm>
            <a:off x="812800" y="1982527"/>
            <a:ext cx="6175502" cy="3651192"/>
          </a:xfrm>
          <a:prstGeom prst="rect">
            <a:avLst/>
          </a:prstGeom>
          <a:noFill/>
          <a:ln/>
        </p:spPr>
        <p:txBody>
          <a:bodyPr wrap="square" lIns="0" tIns="0" rIns="0" bIns="0" rtlCol="0" anchor="t">
            <a:spAutoFit/>
          </a:bodyPr>
          <a:lstStyle/>
          <a:p>
            <a:pPr marL="210566" indent="-210566" algn="l">
              <a:lnSpc>
                <a:spcPct val="150000"/>
              </a:lnSpc>
              <a:buSzPct val="100000"/>
              <a:buChar char="•"/>
            </a:pPr>
            <a:r>
              <a:rPr lang="en-US" sz="2000" b="1" dirty="0">
                <a:solidFill>
                  <a:srgbClr val="3D3531"/>
                </a:solidFill>
                <a:latin typeface="DM Sans" pitchFamily="34" charset="0"/>
                <a:ea typeface="DM Sans" pitchFamily="34" charset="-122"/>
                <a:cs typeface="DM Sans" pitchFamily="34" charset="-120"/>
              </a:rPr>
              <a:t>Empathize:</a:t>
            </a:r>
            <a:r>
              <a:rPr lang="en-US" sz="2000" dirty="0">
                <a:solidFill>
                  <a:srgbClr val="3D3531"/>
                </a:solidFill>
                <a:latin typeface="DM Sans" pitchFamily="34" charset="0"/>
                <a:ea typeface="DM Sans" pitchFamily="34" charset="-122"/>
                <a:cs typeface="DM Sans" pitchFamily="34" charset="-120"/>
              </a:rPr>
              <a:t> watch and interview the people you are designing for</a:t>
            </a:r>
            <a:endParaRPr lang="en-US" sz="2000" dirty="0"/>
          </a:p>
          <a:p>
            <a:pPr marL="210566" indent="-210566" algn="l">
              <a:lnSpc>
                <a:spcPct val="150000"/>
              </a:lnSpc>
              <a:buSzPct val="100000"/>
              <a:buChar char="•"/>
            </a:pPr>
            <a:r>
              <a:rPr lang="en-US" sz="2000" b="1" dirty="0">
                <a:solidFill>
                  <a:srgbClr val="3D3531"/>
                </a:solidFill>
                <a:latin typeface="DM Sans" pitchFamily="34" charset="0"/>
                <a:ea typeface="DM Sans" pitchFamily="34" charset="-122"/>
                <a:cs typeface="DM Sans" pitchFamily="34" charset="-120"/>
              </a:rPr>
              <a:t>Define:</a:t>
            </a:r>
            <a:r>
              <a:rPr lang="en-US" sz="2000" dirty="0">
                <a:solidFill>
                  <a:srgbClr val="3D3531"/>
                </a:solidFill>
                <a:latin typeface="DM Sans" pitchFamily="34" charset="0"/>
                <a:ea typeface="DM Sans" pitchFamily="34" charset="-122"/>
                <a:cs typeface="DM Sans" pitchFamily="34" charset="-120"/>
              </a:rPr>
              <a:t> frame the real problem from what you learned</a:t>
            </a:r>
            <a:endParaRPr lang="en-US" sz="2000" dirty="0"/>
          </a:p>
          <a:p>
            <a:pPr marL="210566" indent="-210566" algn="l">
              <a:lnSpc>
                <a:spcPct val="150000"/>
              </a:lnSpc>
              <a:buSzPct val="100000"/>
              <a:buChar char="•"/>
            </a:pPr>
            <a:r>
              <a:rPr lang="en-US" sz="2000" b="1" dirty="0">
                <a:solidFill>
                  <a:srgbClr val="3D3531"/>
                </a:solidFill>
                <a:latin typeface="DM Sans" pitchFamily="34" charset="0"/>
                <a:ea typeface="DM Sans" pitchFamily="34" charset="-122"/>
                <a:cs typeface="DM Sans" pitchFamily="34" charset="-120"/>
              </a:rPr>
              <a:t>Ideate:</a:t>
            </a:r>
            <a:r>
              <a:rPr lang="en-US" sz="2000" dirty="0">
                <a:solidFill>
                  <a:srgbClr val="3D3531"/>
                </a:solidFill>
                <a:latin typeface="DM Sans" pitchFamily="34" charset="0"/>
                <a:ea typeface="DM Sans" pitchFamily="34" charset="-122"/>
                <a:cs typeface="DM Sans" pitchFamily="34" charset="-120"/>
              </a:rPr>
              <a:t> generate many options before judging any</a:t>
            </a:r>
            <a:endParaRPr lang="en-US" sz="2000" dirty="0"/>
          </a:p>
          <a:p>
            <a:pPr marL="210566" indent="-210566" algn="l">
              <a:lnSpc>
                <a:spcPct val="150000"/>
              </a:lnSpc>
              <a:buSzPct val="100000"/>
              <a:buChar char="•"/>
            </a:pPr>
            <a:r>
              <a:rPr lang="en-US" sz="2000" b="1" dirty="0">
                <a:solidFill>
                  <a:srgbClr val="3D3531"/>
                </a:solidFill>
                <a:latin typeface="DM Sans" pitchFamily="34" charset="0"/>
                <a:ea typeface="DM Sans" pitchFamily="34" charset="-122"/>
                <a:cs typeface="DM Sans" pitchFamily="34" charset="-120"/>
              </a:rPr>
              <a:t>Prototype:</a:t>
            </a:r>
            <a:r>
              <a:rPr lang="en-US" sz="2000" dirty="0">
                <a:solidFill>
                  <a:srgbClr val="3D3531"/>
                </a:solidFill>
                <a:latin typeface="DM Sans" pitchFamily="34" charset="0"/>
                <a:ea typeface="DM Sans" pitchFamily="34" charset="-122"/>
                <a:cs typeface="DM Sans" pitchFamily="34" charset="-120"/>
              </a:rPr>
              <a:t> build something quick and cheap to make the idea concrete</a:t>
            </a:r>
            <a:endParaRPr lang="en-US" sz="2000" dirty="0"/>
          </a:p>
          <a:p>
            <a:pPr marL="210566" indent="-210566" algn="l">
              <a:lnSpc>
                <a:spcPct val="150000"/>
              </a:lnSpc>
              <a:buSzPct val="100000"/>
              <a:buChar char="•"/>
            </a:pPr>
            <a:r>
              <a:rPr lang="en-US" sz="2000" b="1" dirty="0">
                <a:solidFill>
                  <a:srgbClr val="3D3531"/>
                </a:solidFill>
                <a:latin typeface="DM Sans" pitchFamily="34" charset="0"/>
                <a:ea typeface="DM Sans" pitchFamily="34" charset="-122"/>
                <a:cs typeface="DM Sans" pitchFamily="34" charset="-120"/>
              </a:rPr>
              <a:t>Test:</a:t>
            </a:r>
            <a:r>
              <a:rPr lang="en-US" sz="2000" dirty="0">
                <a:solidFill>
                  <a:srgbClr val="3D3531"/>
                </a:solidFill>
                <a:latin typeface="DM Sans" pitchFamily="34" charset="0"/>
                <a:ea typeface="DM Sans" pitchFamily="34" charset="-122"/>
                <a:cs typeface="DM Sans" pitchFamily="34" charset="-120"/>
              </a:rPr>
              <a:t> put it in front of users, learn, and loop back</a:t>
            </a:r>
            <a:endParaRPr lang="en-US" sz="2000" dirty="0"/>
          </a:p>
        </p:txBody>
      </p:sp>
      <p:sp>
        <p:nvSpPr>
          <p:cNvPr id="7" name="Text 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F57"/>
                </a:solidFill>
                <a:latin typeface="DM Sans" pitchFamily="34" charset="0"/>
                <a:ea typeface="DM Sans" pitchFamily="34" charset="-122"/>
                <a:cs typeface="DM Sans" pitchFamily="34" charset="-120"/>
              </a:rPr>
              <a:t>Source: dschool.stanford.edu</a:t>
            </a:r>
            <a:endParaRPr lang="en-US" sz="1200" dirty="0"/>
          </a:p>
        </p:txBody>
      </p:sp>
      <p:pic>
        <p:nvPicPr>
          <p:cNvPr id="9" name="Picture 8">
            <a:extLst>
              <a:ext uri="{FF2B5EF4-FFF2-40B4-BE49-F238E27FC236}">
                <a16:creationId xmlns:a16="http://schemas.microsoft.com/office/drawing/2014/main" id="{3F572AD6-C601-1DCB-0FE7-5596104834B7}"/>
              </a:ext>
            </a:extLst>
          </p:cNvPr>
          <p:cNvPicPr>
            <a:picLocks noChangeAspect="1"/>
          </p:cNvPicPr>
          <p:nvPr/>
        </p:nvPicPr>
        <p:blipFill>
          <a:blip r:embed="rId3"/>
          <a:stretch>
            <a:fillRect/>
          </a:stretch>
        </p:blipFill>
        <p:spPr>
          <a:xfrm>
            <a:off x="7182049" y="2503987"/>
            <a:ext cx="4682791" cy="26157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4291C"/>
                </a:solidFill>
                <a:latin typeface="DM Sans" pitchFamily="34" charset="0"/>
                <a:ea typeface="DM Sans" pitchFamily="34" charset="-122"/>
                <a:cs typeface="DM Sans" pitchFamily="34" charset="-120"/>
              </a:rPr>
              <a:t>STANFORD D.SCHOOL · 3 OF 4</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1A17"/>
                </a:solidFill>
                <a:latin typeface="Oswald" pitchFamily="34" charset="0"/>
                <a:ea typeface="Oswald" pitchFamily="34" charset="-122"/>
                <a:cs typeface="Oswald" pitchFamily="34" charset="-120"/>
              </a:rPr>
              <a:t>What it has produced</a:t>
            </a:r>
            <a:endParaRPr lang="en-US" sz="3600" dirty="0"/>
          </a:p>
        </p:txBody>
      </p:sp>
      <p:sp>
        <p:nvSpPr>
          <p:cNvPr id="4" name="Text 2"/>
          <p:cNvSpPr/>
          <p:nvPr/>
        </p:nvSpPr>
        <p:spPr>
          <a:xfrm>
            <a:off x="812800" y="1890731"/>
            <a:ext cx="6175502" cy="4112857"/>
          </a:xfrm>
          <a:prstGeom prst="rect">
            <a:avLst/>
          </a:prstGeom>
          <a:noFill/>
          <a:ln/>
        </p:spPr>
        <p:txBody>
          <a:bodyPr wrap="square" lIns="0" tIns="0" rIns="0" bIns="0" rtlCol="0" anchor="t">
            <a:spAutoFit/>
          </a:bodyPr>
          <a:lstStyle/>
          <a:p>
            <a:pPr marL="210566" indent="-210566" algn="l">
              <a:lnSpc>
                <a:spcPct val="150000"/>
              </a:lnSpc>
              <a:buSzPct val="100000"/>
              <a:buChar char="•"/>
            </a:pPr>
            <a:r>
              <a:rPr lang="en-US" sz="2000" b="1" dirty="0">
                <a:solidFill>
                  <a:srgbClr val="3D3531"/>
                </a:solidFill>
                <a:latin typeface="DM Sans" pitchFamily="34" charset="0"/>
                <a:ea typeface="DM Sans" pitchFamily="34" charset="-122"/>
                <a:cs typeface="DM Sans" pitchFamily="34" charset="-120"/>
              </a:rPr>
              <a:t>Ventures from the classroom:</a:t>
            </a:r>
            <a:r>
              <a:rPr lang="en-US" sz="2000" dirty="0">
                <a:solidFill>
                  <a:srgbClr val="3D3531"/>
                </a:solidFill>
                <a:latin typeface="DM Sans" pitchFamily="34" charset="0"/>
                <a:ea typeface="DM Sans" pitchFamily="34" charset="-122"/>
                <a:cs typeface="DM Sans" pitchFamily="34" charset="-120"/>
              </a:rPr>
              <a:t> Design for Extreme Affordability led to Embrace (infant warmer) and d.light (solar lighting)</a:t>
            </a:r>
            <a:endParaRPr lang="en-US" sz="2000" dirty="0"/>
          </a:p>
          <a:p>
            <a:pPr marL="210566" indent="-210566" algn="l">
              <a:lnSpc>
                <a:spcPct val="150000"/>
              </a:lnSpc>
              <a:buSzPct val="100000"/>
              <a:buChar char="•"/>
            </a:pPr>
            <a:r>
              <a:rPr lang="en-US" sz="2000" b="1" dirty="0">
                <a:solidFill>
                  <a:srgbClr val="3D3531"/>
                </a:solidFill>
                <a:latin typeface="DM Sans" pitchFamily="34" charset="0"/>
                <a:ea typeface="DM Sans" pitchFamily="34" charset="-122"/>
                <a:cs typeface="DM Sans" pitchFamily="34" charset="-120"/>
              </a:rPr>
              <a:t>Degrees:</a:t>
            </a:r>
            <a:r>
              <a:rPr lang="en-US" sz="2000" dirty="0">
                <a:solidFill>
                  <a:srgbClr val="3D3531"/>
                </a:solidFill>
                <a:latin typeface="DM Sans" pitchFamily="34" charset="0"/>
                <a:ea typeface="DM Sans" pitchFamily="34" charset="-122"/>
                <a:cs typeface="DM Sans" pitchFamily="34" charset="-120"/>
              </a:rPr>
              <a:t> now home to Stanford's two relaunched design degrees</a:t>
            </a:r>
            <a:endParaRPr lang="en-US" sz="2000" dirty="0"/>
          </a:p>
          <a:p>
            <a:pPr marL="210566" indent="-210566" algn="l">
              <a:lnSpc>
                <a:spcPct val="150000"/>
              </a:lnSpc>
              <a:buSzPct val="100000"/>
              <a:buChar char="•"/>
            </a:pPr>
            <a:r>
              <a:rPr lang="en-US" sz="2000" b="1" dirty="0">
                <a:solidFill>
                  <a:srgbClr val="3D3531"/>
                </a:solidFill>
                <a:latin typeface="DM Sans" pitchFamily="34" charset="0"/>
                <a:ea typeface="DM Sans" pitchFamily="34" charset="-122"/>
                <a:cs typeface="DM Sans" pitchFamily="34" charset="-120"/>
              </a:rPr>
              <a:t>Beyond students:</a:t>
            </a:r>
            <a:r>
              <a:rPr lang="en-US" sz="2000" dirty="0">
                <a:solidFill>
                  <a:srgbClr val="3D3531"/>
                </a:solidFill>
                <a:latin typeface="DM Sans" pitchFamily="34" charset="0"/>
                <a:ea typeface="DM Sans" pitchFamily="34" charset="-122"/>
                <a:cs typeface="DM Sans" pitchFamily="34" charset="-120"/>
              </a:rPr>
              <a:t> executive education, a K12 Lab, and a 12-book series on design</a:t>
            </a:r>
            <a:endParaRPr lang="en-US" sz="2000" dirty="0"/>
          </a:p>
          <a:p>
            <a:pPr marL="210566" indent="-210566" algn="l">
              <a:lnSpc>
                <a:spcPct val="150000"/>
              </a:lnSpc>
              <a:buSzPct val="100000"/>
              <a:buChar char="•"/>
            </a:pPr>
            <a:r>
              <a:rPr lang="en-US" sz="2000" b="1" dirty="0">
                <a:solidFill>
                  <a:srgbClr val="3D3531"/>
                </a:solidFill>
                <a:latin typeface="DM Sans" pitchFamily="34" charset="0"/>
                <a:ea typeface="DM Sans" pitchFamily="34" charset="-122"/>
                <a:cs typeface="DM Sans" pitchFamily="34" charset="-120"/>
              </a:rPr>
              <a:t>A global model:</a:t>
            </a:r>
            <a:r>
              <a:rPr lang="en-US" sz="2000" dirty="0">
                <a:solidFill>
                  <a:srgbClr val="3D3531"/>
                </a:solidFill>
                <a:latin typeface="DM Sans" pitchFamily="34" charset="0"/>
                <a:ea typeface="DM Sans" pitchFamily="34" charset="-122"/>
                <a:cs typeface="DM Sans" pitchFamily="34" charset="-120"/>
              </a:rPr>
              <a:t> a sister school at HPI in Potsdam and many imitators worldwide</a:t>
            </a:r>
            <a:endParaRPr lang="en-US" sz="2000" dirty="0"/>
          </a:p>
        </p:txBody>
      </p:sp>
      <p:sp>
        <p:nvSpPr>
          <p:cNvPr id="7" name="Text 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F57"/>
                </a:solidFill>
                <a:latin typeface="DM Sans" pitchFamily="34" charset="0"/>
                <a:ea typeface="DM Sans" pitchFamily="34" charset="-122"/>
                <a:cs typeface="DM Sans" pitchFamily="34" charset="-120"/>
              </a:rPr>
              <a:t>Source: dschool.stanford.edu</a:t>
            </a:r>
            <a:endParaRPr lang="en-US" sz="1200" dirty="0"/>
          </a:p>
        </p:txBody>
      </p:sp>
      <p:pic>
        <p:nvPicPr>
          <p:cNvPr id="9" name="Picture 8">
            <a:extLst>
              <a:ext uri="{FF2B5EF4-FFF2-40B4-BE49-F238E27FC236}">
                <a16:creationId xmlns:a16="http://schemas.microsoft.com/office/drawing/2014/main" id="{494DE589-808C-CC70-352A-5D95E26C3A56}"/>
              </a:ext>
            </a:extLst>
          </p:cNvPr>
          <p:cNvPicPr>
            <a:picLocks noChangeAspect="1"/>
          </p:cNvPicPr>
          <p:nvPr/>
        </p:nvPicPr>
        <p:blipFill>
          <a:blip r:embed="rId3"/>
          <a:stretch>
            <a:fillRect/>
          </a:stretch>
        </p:blipFill>
        <p:spPr>
          <a:xfrm>
            <a:off x="7054759" y="2415198"/>
            <a:ext cx="4641433" cy="30639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4291C"/>
                </a:solidFill>
                <a:latin typeface="DM Sans" pitchFamily="34" charset="0"/>
                <a:ea typeface="DM Sans" pitchFamily="34" charset="-122"/>
                <a:cs typeface="DM Sans" pitchFamily="34" charset="-120"/>
              </a:rPr>
              <a:t>STANFORD D.SCHOOL · 4 OF 4</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F1A17"/>
                </a:solidFill>
                <a:latin typeface="Oswald" pitchFamily="34" charset="0"/>
                <a:ea typeface="Oswald" pitchFamily="34" charset="-122"/>
                <a:cs typeface="Oswald" pitchFamily="34" charset="-120"/>
              </a:rPr>
              <a:t>Core messages: what the d.school stands for</a:t>
            </a:r>
            <a:endParaRPr lang="en-US" sz="3600" dirty="0"/>
          </a:p>
        </p:txBody>
      </p:sp>
      <p:sp>
        <p:nvSpPr>
          <p:cNvPr id="7" name="Text 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5F57"/>
                </a:solidFill>
                <a:latin typeface="DM Sans" pitchFamily="34" charset="0"/>
                <a:ea typeface="DM Sans" pitchFamily="34" charset="-122"/>
                <a:cs typeface="DM Sans" pitchFamily="34" charset="-120"/>
              </a:rPr>
              <a:t>Summary of the d.school’s design thinking mindsets (dschool.stanford.edu)</a:t>
            </a:r>
            <a:endParaRPr lang="en-US" sz="1200" dirty="0"/>
          </a:p>
        </p:txBody>
      </p:sp>
      <p:sp>
        <p:nvSpPr>
          <p:cNvPr id="20" name="Card 20"/>
          <p:cNvSpPr/>
          <p:nvPr/>
        </p:nvSpPr>
        <p:spPr>
          <a:xfrm>
            <a:off x="812800" y="1890731"/>
            <a:ext cx="5314696" cy="1560000"/>
          </a:xfrm>
          <a:prstGeom prst="roundRect">
            <a:avLst>
              <a:gd name="adj" fmla="val 8000"/>
            </a:avLst>
          </a:prstGeom>
          <a:solidFill>
            <a:srgbClr val="FFFFFF"/>
          </a:solidFill>
          <a:ln w="12700">
            <a:solidFill>
              <a:srgbClr val="E6DCCB"/>
            </a:solidFill>
          </a:ln>
        </p:spPr>
        <p:txBody>
          <a:bodyPr rtlCol="0" anchor="ctr"/>
          <a:lstStyle/>
          <a:p>
            <a:endParaRPr lang="en-US" dirty="0"/>
          </a:p>
        </p:txBody>
      </p:sp>
      <p:sp>
        <p:nvSpPr>
          <p:cNvPr id="21" name="Number 01"/>
          <p:cNvSpPr txBox="1"/>
          <p:nvPr/>
        </p:nvSpPr>
        <p:spPr>
          <a:xfrm>
            <a:off x="1092800" y="2140731"/>
            <a:ext cx="760000" cy="520000"/>
          </a:xfrm>
          <a:prstGeom prst="rect">
            <a:avLst/>
          </a:prstGeom>
          <a:noFill/>
          <a:ln/>
        </p:spPr>
        <p:txBody>
          <a:bodyPr wrap="square" lIns="0" tIns="0" rIns="0" bIns="0" rtlCol="0" anchor="t">
            <a:noAutofit/>
          </a:bodyPr>
          <a:lstStyle/>
          <a:p>
            <a:pPr marL="0" indent="0" algn="l">
              <a:lnSpc>
                <a:spcPct val="100000"/>
              </a:lnSpc>
              <a:buNone/>
            </a:pPr>
            <a:r>
              <a:rPr lang="en-US" sz="3200" b="1" dirty="0">
                <a:solidFill>
                  <a:srgbClr val="C4291C"/>
                </a:solidFill>
                <a:latin typeface="Oswald" pitchFamily="34" charset="0"/>
                <a:ea typeface="Oswald" pitchFamily="34" charset="-122"/>
                <a:cs typeface="Oswald" pitchFamily="34" charset="-120"/>
              </a:rPr>
              <a:t>01</a:t>
            </a:r>
            <a:endParaRPr lang="en-US" sz="3200" dirty="0"/>
          </a:p>
        </p:txBody>
      </p:sp>
      <p:sp>
        <p:nvSpPr>
          <p:cNvPr id="22" name="Heading 01"/>
          <p:cNvSpPr txBox="1"/>
          <p:nvPr/>
        </p:nvSpPr>
        <p:spPr>
          <a:xfrm>
            <a:off x="1892800" y="2150731"/>
            <a:ext cx="3954696" cy="380000"/>
          </a:xfrm>
          <a:prstGeom prst="rect">
            <a:avLst/>
          </a:prstGeom>
          <a:noFill/>
          <a:ln/>
        </p:spPr>
        <p:txBody>
          <a:bodyPr wrap="square" lIns="0" tIns="0" rIns="0" bIns="0" rtlCol="0" anchor="t">
            <a:noAutofit/>
          </a:bodyPr>
          <a:lstStyle/>
          <a:p>
            <a:pPr marL="0" indent="0" algn="l">
              <a:lnSpc>
                <a:spcPct val="110000"/>
              </a:lnSpc>
              <a:buNone/>
            </a:pPr>
            <a:r>
              <a:rPr lang="en-US" sz="2000" b="1" dirty="0">
                <a:solidFill>
                  <a:srgbClr val="1F1A17"/>
                </a:solidFill>
                <a:latin typeface="DM Sans" pitchFamily="34" charset="0"/>
                <a:ea typeface="DM Sans" pitchFamily="34" charset="-122"/>
                <a:cs typeface="DM Sans" pitchFamily="34" charset="-120"/>
              </a:rPr>
              <a:t>Start with people</a:t>
            </a:r>
            <a:endParaRPr lang="en-US" sz="2000" dirty="0"/>
          </a:p>
        </p:txBody>
      </p:sp>
      <p:sp>
        <p:nvSpPr>
          <p:cNvPr id="23" name="Body 01"/>
          <p:cNvSpPr txBox="1"/>
          <p:nvPr/>
        </p:nvSpPr>
        <p:spPr>
          <a:xfrm>
            <a:off x="1892800" y="2570731"/>
            <a:ext cx="3954696" cy="720000"/>
          </a:xfrm>
          <a:prstGeom prst="rect">
            <a:avLst/>
          </a:prstGeom>
          <a:noFill/>
          <a:ln/>
        </p:spPr>
        <p:txBody>
          <a:bodyPr wrap="square" lIns="0" tIns="0" rIns="0" bIns="0" rtlCol="0" anchor="t">
            <a:noAutofit/>
          </a:bodyPr>
          <a:lstStyle/>
          <a:p>
            <a:pPr marL="0" indent="0" algn="l">
              <a:lnSpc>
                <a:spcPct val="125000"/>
              </a:lnSpc>
              <a:buNone/>
            </a:pPr>
            <a:r>
              <a:rPr lang="en-US" sz="1500" dirty="0">
                <a:solidFill>
                  <a:srgbClr val="3D3531"/>
                </a:solidFill>
                <a:latin typeface="DM Sans" pitchFamily="34" charset="0"/>
                <a:ea typeface="DM Sans" pitchFamily="34" charset="-122"/>
                <a:cs typeface="DM Sans" pitchFamily="34" charset="-120"/>
              </a:rPr>
              <a:t>Begin with the needs of real users, not with a technology looking for a use.</a:t>
            </a:r>
            <a:endParaRPr lang="en-US" sz="1500" dirty="0"/>
          </a:p>
        </p:txBody>
      </p:sp>
      <p:sp>
        <p:nvSpPr>
          <p:cNvPr id="24" name="Card 24"/>
          <p:cNvSpPr/>
          <p:nvPr/>
        </p:nvSpPr>
        <p:spPr>
          <a:xfrm>
            <a:off x="6381496" y="1890731"/>
            <a:ext cx="5314696" cy="1560000"/>
          </a:xfrm>
          <a:prstGeom prst="roundRect">
            <a:avLst>
              <a:gd name="adj" fmla="val 8000"/>
            </a:avLst>
          </a:prstGeom>
          <a:solidFill>
            <a:srgbClr val="FFFFFF"/>
          </a:solidFill>
          <a:ln w="12700">
            <a:solidFill>
              <a:srgbClr val="E6DCCB"/>
            </a:solidFill>
          </a:ln>
        </p:spPr>
        <p:txBody>
          <a:bodyPr rtlCol="0" anchor="ctr"/>
          <a:lstStyle/>
          <a:p>
            <a:endParaRPr lang="en-US" dirty="0"/>
          </a:p>
        </p:txBody>
      </p:sp>
      <p:sp>
        <p:nvSpPr>
          <p:cNvPr id="25" name="Number 02"/>
          <p:cNvSpPr txBox="1"/>
          <p:nvPr/>
        </p:nvSpPr>
        <p:spPr>
          <a:xfrm>
            <a:off x="6661496" y="2140731"/>
            <a:ext cx="760000" cy="520000"/>
          </a:xfrm>
          <a:prstGeom prst="rect">
            <a:avLst/>
          </a:prstGeom>
          <a:noFill/>
          <a:ln/>
        </p:spPr>
        <p:txBody>
          <a:bodyPr wrap="square" lIns="0" tIns="0" rIns="0" bIns="0" rtlCol="0" anchor="t">
            <a:noAutofit/>
          </a:bodyPr>
          <a:lstStyle/>
          <a:p>
            <a:pPr marL="0" indent="0" algn="l">
              <a:lnSpc>
                <a:spcPct val="100000"/>
              </a:lnSpc>
              <a:buNone/>
            </a:pPr>
            <a:r>
              <a:rPr lang="en-US" sz="3200" b="1" dirty="0">
                <a:solidFill>
                  <a:srgbClr val="C4291C"/>
                </a:solidFill>
                <a:latin typeface="Oswald" pitchFamily="34" charset="0"/>
                <a:ea typeface="Oswald" pitchFamily="34" charset="-122"/>
                <a:cs typeface="Oswald" pitchFamily="34" charset="-120"/>
              </a:rPr>
              <a:t>02</a:t>
            </a:r>
            <a:endParaRPr lang="en-US" sz="3200" dirty="0"/>
          </a:p>
        </p:txBody>
      </p:sp>
      <p:sp>
        <p:nvSpPr>
          <p:cNvPr id="26" name="Heading 02"/>
          <p:cNvSpPr txBox="1"/>
          <p:nvPr/>
        </p:nvSpPr>
        <p:spPr>
          <a:xfrm>
            <a:off x="7461496" y="2150731"/>
            <a:ext cx="3954696" cy="380000"/>
          </a:xfrm>
          <a:prstGeom prst="rect">
            <a:avLst/>
          </a:prstGeom>
          <a:noFill/>
          <a:ln/>
        </p:spPr>
        <p:txBody>
          <a:bodyPr wrap="square" lIns="0" tIns="0" rIns="0" bIns="0" rtlCol="0" anchor="t">
            <a:noAutofit/>
          </a:bodyPr>
          <a:lstStyle/>
          <a:p>
            <a:pPr marL="0" indent="0" algn="l">
              <a:lnSpc>
                <a:spcPct val="110000"/>
              </a:lnSpc>
              <a:buNone/>
            </a:pPr>
            <a:r>
              <a:rPr lang="en-US" sz="2000" b="1" dirty="0">
                <a:solidFill>
                  <a:srgbClr val="1F1A17"/>
                </a:solidFill>
                <a:latin typeface="DM Sans" pitchFamily="34" charset="0"/>
                <a:ea typeface="DM Sans" pitchFamily="34" charset="-122"/>
                <a:cs typeface="DM Sans" pitchFamily="34" charset="-120"/>
              </a:rPr>
              <a:t>Build to think</a:t>
            </a:r>
            <a:endParaRPr lang="en-US" sz="2000" dirty="0"/>
          </a:p>
        </p:txBody>
      </p:sp>
      <p:sp>
        <p:nvSpPr>
          <p:cNvPr id="27" name="Body 02"/>
          <p:cNvSpPr txBox="1"/>
          <p:nvPr/>
        </p:nvSpPr>
        <p:spPr>
          <a:xfrm>
            <a:off x="7461496" y="2570731"/>
            <a:ext cx="3954696" cy="720000"/>
          </a:xfrm>
          <a:prstGeom prst="rect">
            <a:avLst/>
          </a:prstGeom>
          <a:noFill/>
          <a:ln/>
        </p:spPr>
        <p:txBody>
          <a:bodyPr wrap="square" lIns="0" tIns="0" rIns="0" bIns="0" rtlCol="0" anchor="t">
            <a:noAutofit/>
          </a:bodyPr>
          <a:lstStyle/>
          <a:p>
            <a:pPr marL="0" indent="0" algn="l">
              <a:lnSpc>
                <a:spcPct val="125000"/>
              </a:lnSpc>
              <a:buNone/>
            </a:pPr>
            <a:r>
              <a:rPr lang="en-US" sz="1500" dirty="0">
                <a:solidFill>
                  <a:srgbClr val="3D3531"/>
                </a:solidFill>
                <a:latin typeface="DM Sans" pitchFamily="34" charset="0"/>
                <a:ea typeface="DM Sans" pitchFamily="34" charset="-122"/>
                <a:cs typeface="DM Sans" pitchFamily="34" charset="-120"/>
              </a:rPr>
              <a:t>Make a rough prototype early and learn from testing it instead of planning at length.</a:t>
            </a:r>
            <a:endParaRPr lang="en-US" sz="1500" dirty="0"/>
          </a:p>
        </p:txBody>
      </p:sp>
      <p:sp>
        <p:nvSpPr>
          <p:cNvPr id="28" name="Card 28"/>
          <p:cNvSpPr/>
          <p:nvPr/>
        </p:nvSpPr>
        <p:spPr>
          <a:xfrm>
            <a:off x="812800" y="3704731"/>
            <a:ext cx="5314696" cy="1560000"/>
          </a:xfrm>
          <a:prstGeom prst="roundRect">
            <a:avLst>
              <a:gd name="adj" fmla="val 8000"/>
            </a:avLst>
          </a:prstGeom>
          <a:solidFill>
            <a:srgbClr val="FFFFFF"/>
          </a:solidFill>
          <a:ln w="12700">
            <a:solidFill>
              <a:srgbClr val="E6DCCB"/>
            </a:solidFill>
          </a:ln>
        </p:spPr>
        <p:txBody>
          <a:bodyPr rtlCol="0" anchor="ctr"/>
          <a:lstStyle/>
          <a:p>
            <a:endParaRPr lang="en-US" dirty="0"/>
          </a:p>
        </p:txBody>
      </p:sp>
      <p:sp>
        <p:nvSpPr>
          <p:cNvPr id="29" name="Number 03"/>
          <p:cNvSpPr txBox="1"/>
          <p:nvPr/>
        </p:nvSpPr>
        <p:spPr>
          <a:xfrm>
            <a:off x="1092800" y="3954731"/>
            <a:ext cx="760000" cy="520000"/>
          </a:xfrm>
          <a:prstGeom prst="rect">
            <a:avLst/>
          </a:prstGeom>
          <a:noFill/>
          <a:ln/>
        </p:spPr>
        <p:txBody>
          <a:bodyPr wrap="square" lIns="0" tIns="0" rIns="0" bIns="0" rtlCol="0" anchor="t">
            <a:noAutofit/>
          </a:bodyPr>
          <a:lstStyle/>
          <a:p>
            <a:pPr marL="0" indent="0" algn="l">
              <a:lnSpc>
                <a:spcPct val="100000"/>
              </a:lnSpc>
              <a:buNone/>
            </a:pPr>
            <a:r>
              <a:rPr lang="en-US" sz="3200" b="1" dirty="0">
                <a:solidFill>
                  <a:srgbClr val="C4291C"/>
                </a:solidFill>
                <a:latin typeface="Oswald" pitchFamily="34" charset="0"/>
                <a:ea typeface="Oswald" pitchFamily="34" charset="-122"/>
                <a:cs typeface="Oswald" pitchFamily="34" charset="-120"/>
              </a:rPr>
              <a:t>03</a:t>
            </a:r>
            <a:endParaRPr lang="en-US" sz="3200" dirty="0"/>
          </a:p>
        </p:txBody>
      </p:sp>
      <p:sp>
        <p:nvSpPr>
          <p:cNvPr id="30" name="Heading 03"/>
          <p:cNvSpPr txBox="1"/>
          <p:nvPr/>
        </p:nvSpPr>
        <p:spPr>
          <a:xfrm>
            <a:off x="1892800" y="3964731"/>
            <a:ext cx="3954696" cy="380000"/>
          </a:xfrm>
          <a:prstGeom prst="rect">
            <a:avLst/>
          </a:prstGeom>
          <a:noFill/>
          <a:ln/>
        </p:spPr>
        <p:txBody>
          <a:bodyPr wrap="square" lIns="0" tIns="0" rIns="0" bIns="0" rtlCol="0" anchor="t">
            <a:noAutofit/>
          </a:bodyPr>
          <a:lstStyle/>
          <a:p>
            <a:pPr marL="0" indent="0" algn="l">
              <a:lnSpc>
                <a:spcPct val="110000"/>
              </a:lnSpc>
              <a:buNone/>
            </a:pPr>
            <a:r>
              <a:rPr lang="en-US" sz="2000" b="1" dirty="0">
                <a:solidFill>
                  <a:srgbClr val="1F1A17"/>
                </a:solidFill>
                <a:latin typeface="DM Sans" pitchFamily="34" charset="0"/>
                <a:ea typeface="DM Sans" pitchFamily="34" charset="-122"/>
                <a:cs typeface="DM Sans" pitchFamily="34" charset="-120"/>
              </a:rPr>
              <a:t>Mix the disciplines</a:t>
            </a:r>
            <a:endParaRPr lang="en-US" sz="2000" dirty="0"/>
          </a:p>
        </p:txBody>
      </p:sp>
      <p:sp>
        <p:nvSpPr>
          <p:cNvPr id="31" name="Body 03"/>
          <p:cNvSpPr txBox="1"/>
          <p:nvPr/>
        </p:nvSpPr>
        <p:spPr>
          <a:xfrm>
            <a:off x="1892800" y="4384731"/>
            <a:ext cx="3954696" cy="720000"/>
          </a:xfrm>
          <a:prstGeom prst="rect">
            <a:avLst/>
          </a:prstGeom>
          <a:noFill/>
          <a:ln/>
        </p:spPr>
        <p:txBody>
          <a:bodyPr wrap="square" lIns="0" tIns="0" rIns="0" bIns="0" rtlCol="0" anchor="t">
            <a:noAutofit/>
          </a:bodyPr>
          <a:lstStyle/>
          <a:p>
            <a:pPr marL="0" indent="0" algn="l">
              <a:lnSpc>
                <a:spcPct val="125000"/>
              </a:lnSpc>
              <a:buNone/>
            </a:pPr>
            <a:r>
              <a:rPr lang="en-US" sz="1500" dirty="0">
                <a:solidFill>
                  <a:srgbClr val="3D3531"/>
                </a:solidFill>
                <a:latin typeface="DM Sans" pitchFamily="34" charset="0"/>
                <a:ea typeface="DM Sans" pitchFamily="34" charset="-122"/>
                <a:cs typeface="DM Sans" pitchFamily="34" charset="-120"/>
              </a:rPr>
              <a:t>Engineers, doctors and MBAs work on one team, because hard problems cross fields.</a:t>
            </a:r>
            <a:endParaRPr lang="en-US" sz="1500" dirty="0"/>
          </a:p>
        </p:txBody>
      </p:sp>
      <p:sp>
        <p:nvSpPr>
          <p:cNvPr id="32" name="Card 32"/>
          <p:cNvSpPr/>
          <p:nvPr/>
        </p:nvSpPr>
        <p:spPr>
          <a:xfrm>
            <a:off x="6381496" y="3704731"/>
            <a:ext cx="5314696" cy="1560000"/>
          </a:xfrm>
          <a:prstGeom prst="roundRect">
            <a:avLst>
              <a:gd name="adj" fmla="val 8000"/>
            </a:avLst>
          </a:prstGeom>
          <a:solidFill>
            <a:srgbClr val="FFFFFF"/>
          </a:solidFill>
          <a:ln w="12700">
            <a:solidFill>
              <a:srgbClr val="E6DCCB"/>
            </a:solidFill>
          </a:ln>
        </p:spPr>
        <p:txBody>
          <a:bodyPr rtlCol="0" anchor="ctr"/>
          <a:lstStyle/>
          <a:p>
            <a:endParaRPr lang="en-US" dirty="0"/>
          </a:p>
        </p:txBody>
      </p:sp>
      <p:sp>
        <p:nvSpPr>
          <p:cNvPr id="33" name="Number 04"/>
          <p:cNvSpPr txBox="1"/>
          <p:nvPr/>
        </p:nvSpPr>
        <p:spPr>
          <a:xfrm>
            <a:off x="6661496" y="3954731"/>
            <a:ext cx="760000" cy="520000"/>
          </a:xfrm>
          <a:prstGeom prst="rect">
            <a:avLst/>
          </a:prstGeom>
          <a:noFill/>
          <a:ln/>
        </p:spPr>
        <p:txBody>
          <a:bodyPr wrap="square" lIns="0" tIns="0" rIns="0" bIns="0" rtlCol="0" anchor="t">
            <a:noAutofit/>
          </a:bodyPr>
          <a:lstStyle/>
          <a:p>
            <a:pPr marL="0" indent="0" algn="l">
              <a:lnSpc>
                <a:spcPct val="100000"/>
              </a:lnSpc>
              <a:buNone/>
            </a:pPr>
            <a:r>
              <a:rPr lang="en-US" sz="3200" b="1" dirty="0">
                <a:solidFill>
                  <a:srgbClr val="C4291C"/>
                </a:solidFill>
                <a:latin typeface="Oswald" pitchFamily="34" charset="0"/>
                <a:ea typeface="Oswald" pitchFamily="34" charset="-122"/>
                <a:cs typeface="Oswald" pitchFamily="34" charset="-120"/>
              </a:rPr>
              <a:t>04</a:t>
            </a:r>
            <a:endParaRPr lang="en-US" sz="3200" dirty="0"/>
          </a:p>
        </p:txBody>
      </p:sp>
      <p:sp>
        <p:nvSpPr>
          <p:cNvPr id="34" name="Heading 04"/>
          <p:cNvSpPr txBox="1"/>
          <p:nvPr/>
        </p:nvSpPr>
        <p:spPr>
          <a:xfrm>
            <a:off x="7461496" y="3964731"/>
            <a:ext cx="3954696" cy="380000"/>
          </a:xfrm>
          <a:prstGeom prst="rect">
            <a:avLst/>
          </a:prstGeom>
          <a:noFill/>
          <a:ln/>
        </p:spPr>
        <p:txBody>
          <a:bodyPr wrap="square" lIns="0" tIns="0" rIns="0" bIns="0" rtlCol="0" anchor="t">
            <a:noAutofit/>
          </a:bodyPr>
          <a:lstStyle/>
          <a:p>
            <a:pPr marL="0" indent="0" algn="l">
              <a:lnSpc>
                <a:spcPct val="110000"/>
              </a:lnSpc>
              <a:buNone/>
            </a:pPr>
            <a:r>
              <a:rPr lang="en-US" sz="2000" b="1" dirty="0">
                <a:solidFill>
                  <a:srgbClr val="1F1A17"/>
                </a:solidFill>
                <a:latin typeface="DM Sans" pitchFamily="34" charset="0"/>
                <a:ea typeface="DM Sans" pitchFamily="34" charset="-122"/>
                <a:cs typeface="DM Sans" pitchFamily="34" charset="-120"/>
              </a:rPr>
              <a:t>Creativity can be taught</a:t>
            </a:r>
            <a:endParaRPr lang="en-US" sz="2000" dirty="0"/>
          </a:p>
        </p:txBody>
      </p:sp>
      <p:sp>
        <p:nvSpPr>
          <p:cNvPr id="35" name="Body 04"/>
          <p:cNvSpPr txBox="1"/>
          <p:nvPr/>
        </p:nvSpPr>
        <p:spPr>
          <a:xfrm>
            <a:off x="7461496" y="4384731"/>
            <a:ext cx="3954696" cy="720000"/>
          </a:xfrm>
          <a:prstGeom prst="rect">
            <a:avLst/>
          </a:prstGeom>
          <a:noFill/>
          <a:ln/>
        </p:spPr>
        <p:txBody>
          <a:bodyPr wrap="square" lIns="0" tIns="0" rIns="0" bIns="0" rtlCol="0" anchor="t">
            <a:noAutofit/>
          </a:bodyPr>
          <a:lstStyle/>
          <a:p>
            <a:pPr marL="0" indent="0" algn="l">
              <a:lnSpc>
                <a:spcPct val="125000"/>
              </a:lnSpc>
              <a:buNone/>
            </a:pPr>
            <a:r>
              <a:rPr lang="en-US" sz="1500" dirty="0">
                <a:solidFill>
                  <a:srgbClr val="3D3531"/>
                </a:solidFill>
                <a:latin typeface="DM Sans" pitchFamily="34" charset="0"/>
                <a:ea typeface="DM Sans" pitchFamily="34" charset="-122"/>
                <a:cs typeface="DM Sans" pitchFamily="34" charset="-120"/>
              </a:rPr>
              <a:t>Everyone can learn to innovate with practice. It is a skill, not a gift.</a:t>
            </a:r>
            <a:endParaRPr lang="en-US" sz="1500" dirty="0"/>
          </a:p>
        </p:txBody>
      </p:sp>
      <p:sp>
        <p:nvSpPr>
          <p:cNvPr id="36" name="So what"/>
          <p:cNvSpPr txBox="1"/>
          <p:nvPr/>
        </p:nvSpPr>
        <p:spPr>
          <a:xfrm>
            <a:off x="812800" y="5464731"/>
            <a:ext cx="10883392" cy="360000"/>
          </a:xfrm>
          <a:prstGeom prst="rect">
            <a:avLst/>
          </a:prstGeom>
          <a:noFill/>
          <a:ln/>
        </p:spPr>
        <p:txBody>
          <a:bodyPr wrap="square" lIns="0" tIns="0" rIns="0" bIns="0" rtlCol="0" anchor="t">
            <a:noAutofit/>
          </a:bodyPr>
          <a:lstStyle/>
          <a:p>
            <a:pPr marL="0" indent="0" algn="l">
              <a:lnSpc>
                <a:spcPct val="110000"/>
              </a:lnSpc>
              <a:buNone/>
            </a:pPr>
            <a:r>
              <a:rPr lang="en-US" sz="1800" b="1" dirty="0">
                <a:solidFill>
                  <a:srgbClr val="C4291C"/>
                </a:solidFill>
                <a:latin typeface="DM Sans" pitchFamily="34" charset="0"/>
                <a:ea typeface="DM Sans" pitchFamily="34" charset="-122"/>
                <a:cs typeface="DM Sans" pitchFamily="34" charset="-120"/>
              </a:rPr>
              <a:t>So what? </a:t>
            </a:r>
            <a:r>
              <a:rPr lang="en-US" sz="1800" b="1" dirty="0">
                <a:solidFill>
                  <a:srgbClr val="1F1A17"/>
                </a:solidFill>
                <a:latin typeface="DM Sans" pitchFamily="34" charset="0"/>
                <a:ea typeface="DM Sans" pitchFamily="34" charset="-122"/>
                <a:cs typeface="DM Sans" pitchFamily="34" charset="-120"/>
              </a:rPr>
              <a:t>The d.school treats innovation as a method anyone can learn and practice.</a:t>
            </a:r>
            <a:endParaRPr lang="en-US" sz="1800" dirty="0"/>
          </a:p>
        </p:txBody>
      </p:sp>
    </p:spTree>
  </p:cSld>
  <p:clrMapOvr>
    <a:masterClrMapping/>
  </p:clrMapOvr>
</p:sld>
</file>

<file path=ppt/theme/theme1.xml><?xml version="1.0" encoding="utf-8"?>
<a:theme xmlns:a="http://schemas.openxmlformats.org/drawingml/2006/main" name="Introducing the Stanford d.school">
  <a:themeElements>
    <a:clrScheme name="Introducing the Stanford d.school">
      <a:dk1>
        <a:srgbClr val="3D3531"/>
      </a:dk1>
      <a:lt1>
        <a:srgbClr val="FAF6EF"/>
      </a:lt1>
      <a:dk2>
        <a:srgbClr val="6C6561"/>
      </a:dk2>
      <a:lt2>
        <a:srgbClr val="E7E3DC"/>
      </a:lt2>
      <a:accent1>
        <a:srgbClr val="C4291C"/>
      </a:accent1>
      <a:accent2>
        <a:srgbClr val="B3241A"/>
      </a:accent2>
      <a:accent3>
        <a:srgbClr val="6B5F57"/>
      </a:accent3>
      <a:accent4>
        <a:srgbClr val="1F1A17"/>
      </a:accent4>
      <a:accent5>
        <a:srgbClr val="EADFCE"/>
      </a:accent5>
      <a:accent6>
        <a:srgbClr val="9AA0A6"/>
      </a:accent6>
      <a:hlink>
        <a:srgbClr val="0563C1"/>
      </a:hlink>
      <a:folHlink>
        <a:srgbClr val="954F72"/>
      </a:folHlink>
    </a:clrScheme>
    <a:fontScheme name="Introducing the Stanford d.school">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624</Words>
  <Application>Microsoft Macintosh PowerPoint</Application>
  <PresentationFormat>Widescreen</PresentationFormat>
  <Paragraphs>46</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DM Sans</vt:lpstr>
      <vt:lpstr>Oswald</vt:lpstr>
      <vt:lpstr>Introducing the Stanford d.school</vt:lpstr>
      <vt:lpstr>What the d.school is</vt:lpstr>
      <vt:lpstr>How it teaches design thinking</vt:lpstr>
      <vt:lpstr>What it has produced</vt:lpstr>
      <vt:lpstr>Core messages: what the d.school stands for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the Stanford d.school</dc:title>
  <dc:subject/>
  <dc:creator/>
  <cp:lastModifiedBy>Contact</cp:lastModifiedBy>
  <cp:revision>2</cp:revision>
  <dcterms:created xsi:type="dcterms:W3CDTF">2026-10-11T03:12:51Z</dcterms:created>
  <dcterms:modified xsi:type="dcterms:W3CDTF">2026-10-11T04:00:56Z</dcterms:modified>
</cp:coreProperties>
</file>